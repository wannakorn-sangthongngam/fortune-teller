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"/>
            <a:ext cx="457200" cy="66751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1645920"/>
            <a:ext cx="7315200" cy="347472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1645920"/>
            <a:ext cx="54864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920240"/>
            <a:ext cx="69494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 i="0">
                <a:solidFill>
                  <a:srgbClr val="D4A017"/>
                </a:solidFill>
              </a:rPr>
              <a:t>Fortune Teller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01752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</a:rPr>
              <a:t>AI-Powered Tarot Card Recognition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3749039"/>
            <a:ext cx="5943600" cy="457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3886200"/>
            <a:ext cx="6949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1ABC9C"/>
                </a:solidFill>
              </a:rPr>
              <a:t>EfficientNet-B0   ·   PyTorch   ·   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434840"/>
            <a:ext cx="6949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Wannakorn Sangthongngam   ·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"/>
            <a:ext cx="1536192" cy="30175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37744"/>
            <a:ext cx="1399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41414"/>
                </a:solidFill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What is Fortune Teller?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74552" cy="36576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303520" cy="2743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4864" cy="2743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D4A017"/>
                </a:solidFill>
              </a:rPr>
              <a:t>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Take a photo of a tarot 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51460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AI identifies which card it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0779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Receive your fortune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00984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78 unique tarot cards supported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5394960" cy="2743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54864" cy="27432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627632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1ABC9C"/>
                </a:solidFill>
              </a:rPr>
              <a:t>Tech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Framework: PyTorch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51460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Model: EfficientNet-B0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Training: Google Colab (T4 GPU)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00984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▸   Data: Custom tarot card photos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663440"/>
            <a:ext cx="2194560" cy="65836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7316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📷  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09744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4663440"/>
            <a:ext cx="2194560" cy="65836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🤖  AI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809744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663440"/>
            <a:ext cx="2194560" cy="65836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77316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🃏  Card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809744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4663440"/>
            <a:ext cx="2194560" cy="65836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773168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141414"/>
                </a:solidFill>
              </a:rPr>
              <a:t>🔮  Fortune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"/>
            <a:ext cx="2167128" cy="30175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37744"/>
            <a:ext cx="20299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41414"/>
                </a:solidFill>
              </a:rPr>
              <a:t>PROBLEM &amp;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Challenge &amp;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74552" cy="36576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303520" cy="3749039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4864" cy="3749039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48463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</a:rPr>
              <a:t>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78 visually distinct tarot cards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Complex symbols, figures, and colors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Small dataset  (~30 photos per 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0273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Varied lighting and shooting angles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78224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Training from scratch needs huge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5394960" cy="3749039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554480"/>
            <a:ext cx="54864" cy="3749039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627632"/>
            <a:ext cx="49377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</a:rPr>
              <a:t>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176272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Transfer learning from ImageNet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51760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EfficientNet-B0 as feature extractor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27248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Data augmentation (flip, rotate, jitter)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602736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2-phase training  (freeze → unfreeze)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78224"/>
            <a:ext cx="10058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▸   Good accuracy with small dataset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32120"/>
            <a:ext cx="11274552" cy="502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D4A017"/>
                </a:solidFill>
              </a:rPr>
              <a:t>Key Insight:  Borrow knowledge from 1.2M ImageNet images  →  apply to 78 tarot cards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"/>
            <a:ext cx="2167128" cy="30175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37744"/>
            <a:ext cx="202996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41414"/>
                </a:solidFill>
              </a:rPr>
              <a:t>MODEL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Model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74552" cy="36576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37360"/>
            <a:ext cx="2011680" cy="155448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" y="2057400"/>
            <a:ext cx="1920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Input
224×224×3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240280"/>
            <a:ext cx="411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737360"/>
            <a:ext cx="2011680" cy="1554480"/>
          </a:xfrm>
          <a:prstGeom prst="rect">
            <a:avLst/>
          </a:prstGeom>
          <a:solidFill>
            <a:srgbClr val="2C5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57400"/>
            <a:ext cx="1920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EfficientNet-B0
Backbone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80"/>
            <a:ext cx="411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1737360"/>
            <a:ext cx="2011680" cy="1554480"/>
          </a:xfrm>
          <a:prstGeom prst="rect">
            <a:avLst/>
          </a:prstGeom>
          <a:solidFill>
            <a:srgbClr val="2C5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057400"/>
            <a:ext cx="1920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Global Avg
Pooling  1280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40280"/>
            <a:ext cx="411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1737360"/>
            <a:ext cx="2011680" cy="1554480"/>
          </a:xfrm>
          <a:prstGeom prst="rect">
            <a:avLst/>
          </a:prstGeom>
          <a:solidFill>
            <a:srgbClr val="1E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057400"/>
            <a:ext cx="1920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Dropout
Linear → 512
ReLU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240280"/>
            <a:ext cx="411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i="0">
                <a:solidFill>
                  <a:srgbClr val="D4A01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1737360"/>
            <a:ext cx="201168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2057400"/>
            <a:ext cx="1920240" cy="11887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</a:rPr>
              <a:t>Dropout
Linear → 78
Softmax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38327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</a:rPr>
              <a:t>Image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38327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</a:rPr>
              <a:t>Feature Extraction
(ImageNet weights)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338327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</a:rPr>
              <a:t>Feature 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38327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</a:rPr>
              <a:t>Custom Head
(Phase 1 frozen)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383279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</a:rPr>
              <a:t>78-Class 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3840480" cy="36576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977639"/>
            <a:ext cx="6858000" cy="36576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4164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41414"/>
                </a:solidFill>
              </a:rPr>
              <a:t>Property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04164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41414"/>
                </a:solidFill>
              </a:rPr>
              <a:t>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343400"/>
            <a:ext cx="384048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40740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Parameters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4343400"/>
            <a:ext cx="685800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440740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~5.3M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709159"/>
            <a:ext cx="384048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77316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Input Size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4709159"/>
            <a:ext cx="685800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81728" y="477316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224 × 224 px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384048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513892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Pretrained 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074920"/>
            <a:ext cx="685800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1728" y="513892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ImageNet  (1.2M images)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440679"/>
            <a:ext cx="384048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550468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Output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5440679"/>
            <a:ext cx="685800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1728" y="550468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78 classes  (tarot cards)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384048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5870448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Dropout Rate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5806440"/>
            <a:ext cx="6858000" cy="3657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1728" y="5870448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0.3  (applied twice)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"/>
            <a:ext cx="2061972" cy="30175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37744"/>
            <a:ext cx="19248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41414"/>
                </a:solidFill>
              </a:rPr>
              <a:t>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Training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74552" cy="36576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3657600" cy="42062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4864" cy="42062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2"/>
            <a:ext cx="33832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D4A017"/>
                </a:solidFill>
              </a:rPr>
              <a:t>Data Preparation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48840"/>
            <a:ext cx="329184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67712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78 card classes (tarot deck)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~30 photos per 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1868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HEIC / JPG / PNG formats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94176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Split:  75% / 15% / 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966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Stored in Google Drive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7136" y="1554480"/>
            <a:ext cx="3657600" cy="42062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17136" y="1554480"/>
            <a:ext cx="54864" cy="42062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627632"/>
            <a:ext cx="33832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1ABC9C"/>
                </a:solidFill>
              </a:rPr>
              <a:t>Phase 1  —  10 Epochs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0016" y="2148840"/>
            <a:ext cx="329184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2267712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Backbone layers frozen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2743200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Train classifier head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321868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Learning rate:  1e-3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3694176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Optimizer:  Adam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416966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Scheduler:  CosineAnnealing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77072" y="1554480"/>
            <a:ext cx="3657600" cy="42062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77072" y="1554480"/>
            <a:ext cx="54864" cy="4206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952" y="1627632"/>
            <a:ext cx="33832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</a:rPr>
              <a:t>Phase 2  —  20 Epochs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59952" y="2148840"/>
            <a:ext cx="329184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68512" y="2267712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All layers unfrozen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2743200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Fine-tune full 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8512" y="3218688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Learning rate:  1e-4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8512" y="3694176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Weight decay:  1e-4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4169664"/>
            <a:ext cx="33832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▸   Best model auto-saved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274552" cy="5486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 i="0">
                <a:solidFill>
                  <a:srgbClr val="1ABC9C"/>
                </a:solidFill>
              </a:rPr>
              <a:t>Augmentation:   Resize  →  RandomCrop  →  Horizontal Flip  →  Rotate ±15°  →  ColorJitter  →  Normalize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766560"/>
            <a:ext cx="121889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Fortune Teller  ·  AI Tarot Card Recognition  · 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"/>
            <a:ext cx="1010412" cy="30175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37744"/>
            <a:ext cx="8732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41414"/>
                </a:solidFill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Project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74552" cy="36576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72768"/>
            <a:ext cx="1463040" cy="685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46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</a:rPr>
              <a:t>Phase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572768"/>
            <a:ext cx="9601200" cy="6858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1609344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D4A017"/>
                </a:solidFill>
              </a:rPr>
              <a:t>Data Collection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5681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Photograph all 78 tarot cards  ·  ~30 photos each  ·  HEIC / JPG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0" y="1737360"/>
            <a:ext cx="1920240" cy="347472"/>
          </a:xfrm>
          <a:prstGeom prst="rect">
            <a:avLst/>
          </a:prstGeom>
          <a:solidFill>
            <a:srgbClr val="2A24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755648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</a:rPr>
              <a:t>🔄 In Progress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1463040" cy="6858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33472"/>
            <a:ext cx="146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2468880"/>
            <a:ext cx="9601200" cy="6858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2505456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1ABC9C"/>
                </a:solidFill>
              </a:rPr>
              <a:t>Model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852928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Fine-tune EfficientNet-B0 on Google Colab T4 GPU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633472"/>
            <a:ext cx="19202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65176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888888"/>
                </a:solidFill>
              </a:rPr>
              <a:t>⏳ Upcoming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364991"/>
            <a:ext cx="1463040" cy="685800"/>
          </a:xfrm>
          <a:prstGeom prst="rect">
            <a:avLst/>
          </a:prstGeom>
          <a:solidFill>
            <a:srgbClr val="3B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29584"/>
            <a:ext cx="146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364991"/>
            <a:ext cx="9601200" cy="6858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3401568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3B97D3"/>
                </a:solidFill>
              </a:rPr>
              <a:t>Card Prediction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749039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Identify card from photo  ·  Return top-3 confidence scores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3529584"/>
            <a:ext cx="19202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35478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888888"/>
                </a:solidFill>
              </a:rPr>
              <a:t>⏳ Upcoming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61104"/>
            <a:ext cx="1463040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425696"/>
            <a:ext cx="146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03120" y="4261104"/>
            <a:ext cx="9601200" cy="6858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4297680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27AE60"/>
                </a:solidFill>
              </a:rPr>
              <a:t>Fortune Telling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6451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Map predicted card → meaning  ·  Generate fortune reading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425696"/>
            <a:ext cx="19202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4443984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888888"/>
                </a:solidFill>
              </a:rPr>
              <a:t>⏳ Upcoming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157216"/>
            <a:ext cx="1463040" cy="685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321807"/>
            <a:ext cx="1463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03120" y="5157216"/>
            <a:ext cx="9601200" cy="6858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0" y="5193792"/>
            <a:ext cx="5943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E67E22"/>
                </a:solidFill>
              </a:rPr>
              <a:t>Application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5541264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Build full UI  ·  Camera capture  +  fortune display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1200" y="5321807"/>
            <a:ext cx="19202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0" y="5340096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888888"/>
                </a:solidFill>
              </a:rPr>
              <a:t>⏳ Upcoming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