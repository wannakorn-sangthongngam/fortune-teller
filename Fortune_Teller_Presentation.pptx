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everyone. My name is Wannakorn Sangthongngam.</a:t>
            </a:r>
          </a:p>
          <a:p/>
          <a:p>
            <a:r>
              <a:t>Today I am presenting Fortune Teller — an AI-powered system that can recognize tarot cards from photos and generate fortune readings.</a:t>
            </a:r>
          </a:p>
          <a:p/>
          <a:p>
            <a:r>
              <a:t>The project uses EfficientNet-B0, a state-of-the-art image classification model built with PyTorch, trained using transfer learning from ImageNet.</a:t>
            </a:r>
          </a:p>
          <a:p/>
          <a:p>
            <a:r>
              <a:t>Let me walk you through the project from motivation to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Fortune Teller is a system that combines computer vision and tarot card knowledge.</a:t>
            </a:r>
          </a:p>
          <a:p/>
          <a:p>
            <a:r>
              <a:t>The idea is simple — the user takes a photo of a tarot card, the AI model identifies which card it is, and then the system displays the fortune meaning associated with that card.</a:t>
            </a:r>
          </a:p>
          <a:p/>
          <a:p>
            <a:r>
              <a:t>There are 78 cards in a standard tarot deck, each with its own meaning and symbolism.</a:t>
            </a:r>
          </a:p>
          <a:p/>
          <a:p>
            <a:r>
              <a:t>On the technology side, we use PyTorch as the deep learning framework, EfficientNet-B0 as the model backbone, and Google Colab for training on a free GPU.</a:t>
            </a:r>
          </a:p>
          <a:p/>
          <a:p>
            <a:r>
              <a:t>The bottom of this slide shows the full pipeline: Photo → AI Model → Card Identification → Fortune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main challenge of this project is that tarot cards are visually complex — each of the 78 cards has unique symbols, figures, and color patterns that the model must learn to distinguish.</a:t>
            </a:r>
          </a:p>
          <a:p/>
          <a:p>
            <a:r>
              <a:t>The biggest constraint is our small dataset. We only have around 30 photos per card, which is far too little to train a neural network from scratch.</a:t>
            </a:r>
          </a:p>
          <a:p/>
          <a:p>
            <a:r>
              <a:t>Our solution is transfer learning. Instead of starting from random weights, we use EfficientNet-B0 which was already trained on 1.2 million images from ImageNet. The model already knows how to detect edges, shapes, textures, and patterns.</a:t>
            </a:r>
          </a:p>
          <a:p/>
          <a:p>
            <a:r>
              <a:t>We then apply data augmentation — randomly flipping, rotating, and adjusting colors — to artificially create more variety from our small set of photos.</a:t>
            </a:r>
          </a:p>
          <a:p/>
          <a:p>
            <a:r>
              <a:t>Finally, we use a 2-phase training strategy: first train only the classification head while the backbone is frozen, then unfreeze everything for fine-tuning.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full architecture of our model.</a:t>
            </a:r>
          </a:p>
          <a:p/>
          <a:p>
            <a:r>
              <a:t>Starting from the left — the input is an image resized to 224 by 224 pixels with 3 color channels.</a:t>
            </a:r>
          </a:p>
          <a:p/>
          <a:p>
            <a:r>
              <a:t>It then passes through the EfficientNet-B0 backbone, which was pretrained on ImageNet. This backbone acts as a powerful feature extractor — it outputs a 1280-dimensional feature vector summarizing what it sees in the image.</a:t>
            </a:r>
          </a:p>
          <a:p/>
          <a:p>
            <a:r>
              <a:t>We then add our custom classification head on top: a Dropout layer to prevent overfitting, a Linear layer reducing 1280 to 512 dimensions, a ReLU activation, another Dropout, and finally a Linear layer outputting 78 scores — one for each tarot card.</a:t>
            </a:r>
          </a:p>
          <a:p/>
          <a:p>
            <a:r>
              <a:t>The card with the highest score is the prediction.</a:t>
            </a:r>
          </a:p>
          <a:p/>
          <a:p>
            <a:r>
              <a:t>Why EfficientNet-B0? It scales depth, width, and resolution together, giving the best accuracy per number of parameters. It has only 5.3 million parameters, making it fast enough to run on a laptop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training pipeline has three stages.</a:t>
            </a:r>
          </a:p>
          <a:p/>
          <a:p>
            <a:r>
              <a:t>First, data preparation. We collect around 30 photos per card for all 78 cards. The photos are taken on an iPhone in HEIC format and organized into folders — one folder per card. The dataset is then split into 75% training, 15% validation, and 10% test.</a:t>
            </a:r>
          </a:p>
          <a:p/>
          <a:p>
            <a:r>
              <a:t>Second, Phase 1 training. We freeze the EfficientNet backbone so its pretrained ImageNet weights are not changed. Only our custom classification head is trained. We use the Adam optimizer with a learning rate of 1e-3 for 10 epochs. This phase converges quickly because the backbone already extracts good features.</a:t>
            </a:r>
          </a:p>
          <a:p/>
          <a:p>
            <a:r>
              <a:t>Third, Phase 2 fine-tuning. We unfreeze all layers and train the entire network at a lower learning rate of 1e-4 for 20 more epochs. This allows the backbone to slightly adjust to tarot card features. The best model based on validation accuracy is saved automatically.</a:t>
            </a:r>
          </a:p>
          <a:p/>
          <a:p>
            <a:r>
              <a:t>The augmentation pipeline shown at the bottom helps the model generalize by seeing different versions of each photo during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roadmap outlines the five phases of the project.</a:t>
            </a:r>
          </a:p>
          <a:p/>
          <a:p>
            <a:r>
              <a:t>Phase 1 is currently in progress — we are photographing all 78 tarot cards, around 30 shots each, using an iPhone.</a:t>
            </a:r>
          </a:p>
          <a:p/>
          <a:p>
            <a:r>
              <a:t>Phase 2 will be model training on Google Colab using a free T4 GPU. We expect this to take around 30 to 60 minutes once the photos are ready.</a:t>
            </a:r>
          </a:p>
          <a:p/>
          <a:p>
            <a:r>
              <a:t>Phase 3 is the prediction module — given a new photo, the model returns the top 3 most likely cards with confidence scores.</a:t>
            </a:r>
          </a:p>
          <a:p/>
          <a:p>
            <a:r>
              <a:t>Phase 4 adds the fortune telling logic — mapping the predicted card to its traditional meaning and generating a reading for the user.</a:t>
            </a:r>
          </a:p>
          <a:p/>
          <a:p>
            <a:r>
              <a:t>Phase 5 is the final application — a user interface where someone can take a photo and receive their fortune in real time.</a:t>
            </a:r>
          </a:p>
          <a:p/>
          <a:p>
            <a:r>
              <a:t>Each phase builds directly on the previous one. The foundation we are building now — a clean dataset and a well-trained model — is what makes everything else possible.</a:t>
            </a:r>
          </a:p>
          <a:p/>
          <a:p>
            <a:r>
              <a:t>Thank you for listening. I am happy to answer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766560"/>
            <a:ext cx="12188952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Fortune Teller  ·  AI Tarot Card Recognition  ·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"/>
            <a:ext cx="457200" cy="66751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1645920"/>
            <a:ext cx="7315200" cy="34747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1645920"/>
            <a:ext cx="54864" cy="34747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920240"/>
            <a:ext cx="6949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 i="0">
                <a:solidFill>
                  <a:srgbClr val="D4A017"/>
                </a:solidFill>
              </a:rPr>
              <a:t>Fortune Teller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017520"/>
            <a:ext cx="6949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1">
                <a:solidFill>
                  <a:srgbClr val="FFFFFF"/>
                </a:solidFill>
              </a:rPr>
              <a:t>AI-Powered Tarot Card Recognition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749039"/>
            <a:ext cx="5943600" cy="457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3886200"/>
            <a:ext cx="6949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1ABC9C"/>
                </a:solidFill>
              </a:rPr>
              <a:t>EfficientNet-B0   ·   PyTorch   ·   Transfer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434840"/>
            <a:ext cx="6949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Wannakorn Sangthongngam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766560"/>
            <a:ext cx="12188952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Fortune Teller  ·  AI Tarot Card Recognition  ·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"/>
            <a:ext cx="1536192" cy="3017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237744"/>
            <a:ext cx="1399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41414"/>
                </a:solidFill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 is Fortune Teller?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11274552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303520" cy="2743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" cy="2743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2763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D4A017"/>
                </a:solidFill>
              </a:rPr>
              <a:t>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21408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▸   Take a photo of a tarot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1460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▸   AI identifies which card it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07792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▸   Receive your fortune reading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00984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▸   78 unique tarot cards supported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554480"/>
            <a:ext cx="5394960" cy="27432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54864" cy="27432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627632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1ABC9C"/>
                </a:solidFill>
              </a:rPr>
              <a:t>Tech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121408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▸   Framework: PyTorch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1460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▸   Model: EfficientNet-B0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07792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▸   Training: Google Colab (T4 GPU)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00984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▸   Data: Custom tarot card photos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663440"/>
            <a:ext cx="2194560" cy="6583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77316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📷  Photo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0974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4663440"/>
            <a:ext cx="2194560" cy="6583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77316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🤖  AI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80974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663440"/>
            <a:ext cx="2194560" cy="6583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77316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🃏  Card 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809744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4663440"/>
            <a:ext cx="2194560" cy="65836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4773168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 i="0">
                <a:solidFill>
                  <a:srgbClr val="141414"/>
                </a:solidFill>
              </a:rPr>
              <a:t>🔮  Fortune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766560"/>
            <a:ext cx="12188952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Fortune Teller  ·  AI Tarot Card Recognition  ·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"/>
            <a:ext cx="2167128" cy="3017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237744"/>
            <a:ext cx="2029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41414"/>
                </a:solidFill>
              </a:rPr>
              <a:t>PROBLEM &amp;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Challenge &amp;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11274552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303520" cy="3749039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" cy="3749039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27632"/>
            <a:ext cx="4846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74C3C"/>
                </a:solidFill>
              </a:rPr>
              <a:t>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76272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▸   78 visually distinct tarot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▸   Complex symbols, figures, and colors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27248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▸   Small dataset  (~30 photos per card)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0273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▸   Varied lighting and shooting angles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78224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▸   Training from scratch needs huge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554480"/>
            <a:ext cx="5394960" cy="3749039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554480"/>
            <a:ext cx="54864" cy="374903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1627632"/>
            <a:ext cx="49377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27AE60"/>
                </a:solidFill>
              </a:rPr>
              <a:t>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176272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▸   Transfer learning from ImageNet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51760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▸   EfficientNet-B0 as feature extractor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127248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▸   Data augmentation (flip, rotate, jitter)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02736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▸   2-phase training  (freeze → unfreeze)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078224"/>
            <a:ext cx="10058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▸   Good accuracy with small dataset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32120"/>
            <a:ext cx="11274552" cy="5029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1">
                <a:solidFill>
                  <a:srgbClr val="D4A017"/>
                </a:solidFill>
              </a:rPr>
              <a:t>Key Insight:  Borrow knowledge from 1.2M ImageNet images  →  apply to 78 tarot cards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766560"/>
            <a:ext cx="12188952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Fortune Teller  ·  AI Tarot Card Recognition  ·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"/>
            <a:ext cx="2167128" cy="3017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237744"/>
            <a:ext cx="20299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41414"/>
                </a:solidFill>
              </a:rPr>
              <a:t>MODEL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Model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11274552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737360"/>
            <a:ext cx="2011680" cy="15544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" y="2057400"/>
            <a:ext cx="192024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Input
224×224×3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240280"/>
            <a:ext cx="411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737360"/>
            <a:ext cx="2011680" cy="1554480"/>
          </a:xfrm>
          <a:prstGeom prst="rect">
            <a:avLst/>
          </a:prstGeom>
          <a:solidFill>
            <a:srgbClr val="2C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057400"/>
            <a:ext cx="192024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EfficientNet-B0
Backbone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40280"/>
            <a:ext cx="411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1737360"/>
            <a:ext cx="2011680" cy="1554480"/>
          </a:xfrm>
          <a:prstGeom prst="rect">
            <a:avLst/>
          </a:prstGeom>
          <a:solidFill>
            <a:srgbClr val="2C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2057400"/>
            <a:ext cx="192024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Global Avg
Pooling  1280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240280"/>
            <a:ext cx="411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1737360"/>
            <a:ext cx="2011680" cy="1554480"/>
          </a:xfrm>
          <a:prstGeom prst="rect">
            <a:avLst/>
          </a:prstGeom>
          <a:solidFill>
            <a:srgbClr val="1E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057400"/>
            <a:ext cx="192024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Dropout
Linear → 512
ReLU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240280"/>
            <a:ext cx="411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12680" y="1737360"/>
            <a:ext cx="2011680" cy="1554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2057400"/>
            <a:ext cx="1920240" cy="118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</a:rPr>
              <a:t>Dropout
Linear → 78
Softmax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3383279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Image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383279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Feature Extraction
(ImageNet weights)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383279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Feature Vector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383279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Custom Head
(Phase 1 frozen)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383279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</a:rPr>
              <a:t>78-Class 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77639"/>
            <a:ext cx="3840480" cy="3657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0" y="3977639"/>
            <a:ext cx="6858000" cy="3657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41648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41414"/>
                </a:solidFill>
              </a:rPr>
              <a:t>Property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041648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41414"/>
                </a:solidFill>
              </a:rPr>
              <a:t>Value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343400"/>
            <a:ext cx="3840480" cy="365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407408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Parameters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343400"/>
            <a:ext cx="6858000" cy="365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4407408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~5.3M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709159"/>
            <a:ext cx="384048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4773168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Input Size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4709159"/>
            <a:ext cx="68580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1728" y="4773168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224 × 224 px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74920"/>
            <a:ext cx="3840480" cy="365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138928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Pretrained 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5074920"/>
            <a:ext cx="6858000" cy="365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81728" y="5138928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ImageNet  (1.2M images)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440679"/>
            <a:ext cx="384048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5504688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Output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5440679"/>
            <a:ext cx="68580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81728" y="5504688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78 classes  (tarot cards)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806440"/>
            <a:ext cx="3840480" cy="365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5870448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Dropout 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5806440"/>
            <a:ext cx="6858000" cy="36576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81728" y="5870448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0.3  (applied twice)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766560"/>
            <a:ext cx="12188952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Fortune Teller  ·  AI Tarot Card Recognition  ·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"/>
            <a:ext cx="2061972" cy="3017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237744"/>
            <a:ext cx="19248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41414"/>
                </a:solidFill>
              </a:rPr>
              <a:t>TRAINING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Training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11274552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3657600" cy="42062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54864" cy="42062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27632"/>
            <a:ext cx="3383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D4A017"/>
                </a:solidFill>
              </a:rPr>
              <a:t>Data Preparation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48840"/>
            <a:ext cx="329184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67712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78 card classes (tarot deck)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~30 photos per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18688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HEIC / JPG / PNG formats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94176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Split:  75% / 15% / 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966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Stored in Google Drive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17136" y="1554480"/>
            <a:ext cx="3657600" cy="42062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7136" y="1554480"/>
            <a:ext cx="54864" cy="42062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0016" y="1627632"/>
            <a:ext cx="3383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ABC9C"/>
                </a:solidFill>
              </a:rPr>
              <a:t>Phase 1  —  10 Epochs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0016" y="2148840"/>
            <a:ext cx="329184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8576" y="2267712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Backbone layers frozen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2743200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Train classifier head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3218688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Learning rate:  1e-3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3694176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Optimizer:  Adam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416966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Scheduler:  CosineAnnealing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77072" y="1554480"/>
            <a:ext cx="3657600" cy="42062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77072" y="1554480"/>
            <a:ext cx="54864" cy="4206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59952" y="1627632"/>
            <a:ext cx="3383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27AE60"/>
                </a:solidFill>
              </a:rPr>
              <a:t>Phase 2  —  20 Epochs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59952" y="2148840"/>
            <a:ext cx="3291840" cy="3657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68512" y="2267712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All layers unfrozen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2743200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Fine-tune full network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8512" y="3218688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Learning rate:  1e-4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3694176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Weight decay:  1e-4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4169664"/>
            <a:ext cx="3383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CCCCCC"/>
                </a:solidFill>
              </a:rPr>
              <a:t>▸   Best model auto-saved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1ABC9C"/>
                </a:solidFill>
              </a:rPr>
              <a:t>Augmentation:   Resize  →  RandomCrop  →  Horizontal Flip  →  Rotate ±15°  →  ColorJitter  →  Normalize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6766560"/>
            <a:ext cx="12188952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888888"/>
                </a:solidFill>
              </a:rPr>
              <a:t>Fortune Teller  ·  AI Tarot Card Recognition  ·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"/>
            <a:ext cx="1010412" cy="30175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237744"/>
            <a:ext cx="8732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41414"/>
                </a:solidFill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Project Roadmap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11274552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72768"/>
            <a:ext cx="1463040" cy="685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</a:rPr>
              <a:t>Phase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3120" y="1572768"/>
            <a:ext cx="9601200" cy="6858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609344"/>
            <a:ext cx="5943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D4A017"/>
                </a:solidFill>
              </a:rPr>
              <a:t>Data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56816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Photograph all 78 tarot cards  ·  ~30 photos each  ·  HEIC / JPG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737360"/>
            <a:ext cx="1920240" cy="347472"/>
          </a:xfrm>
          <a:prstGeom prst="rect">
            <a:avLst/>
          </a:prstGeom>
          <a:solidFill>
            <a:srgbClr val="2A2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75564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</a:rPr>
              <a:t>🔄 In Progress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1463040" cy="6858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33472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2468880"/>
            <a:ext cx="9601200" cy="6858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2505456"/>
            <a:ext cx="5943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1ABC9C"/>
                </a:solidFill>
              </a:rPr>
              <a:t>Model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8529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Fine-tune EfficientNet-B0 on Google Colab T4 GPU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633472"/>
            <a:ext cx="19202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265176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888888"/>
                </a:solidFill>
              </a:rPr>
              <a:t>⏳ Upcoming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64991"/>
            <a:ext cx="1463040" cy="685800"/>
          </a:xfrm>
          <a:prstGeom prst="rect">
            <a:avLst/>
          </a:prstGeom>
          <a:solidFill>
            <a:srgbClr val="3B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29584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3364991"/>
            <a:ext cx="9601200" cy="6858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3401568"/>
            <a:ext cx="5943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3B97D3"/>
                </a:solidFill>
              </a:rPr>
              <a:t>Card 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749039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Identify card from photo  ·  Return top-3 confidence scores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3529584"/>
            <a:ext cx="19202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3547872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888888"/>
                </a:solidFill>
              </a:rPr>
              <a:t>⏳ Upcoming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261104"/>
            <a:ext cx="146304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425696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4261104"/>
            <a:ext cx="9601200" cy="6858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0" y="4297680"/>
            <a:ext cx="5943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27AE60"/>
                </a:solidFill>
              </a:rPr>
              <a:t>Fortune Telling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6451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Map predicted card → meaning  ·  Generate fortune reading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0" y="4425696"/>
            <a:ext cx="19202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4443984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888888"/>
                </a:solidFill>
              </a:rPr>
              <a:t>⏳ Upcoming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157216"/>
            <a:ext cx="1463040" cy="685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321807"/>
            <a:ext cx="1463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5157216"/>
            <a:ext cx="9601200" cy="6858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0" y="5193792"/>
            <a:ext cx="5943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E67E22"/>
                </a:solidFill>
              </a:rPr>
              <a:t>Application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5541264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Build full UI  ·  Camera capture  +  fortune display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5321807"/>
            <a:ext cx="19202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5340096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888888"/>
                </a:solidFill>
              </a:rPr>
              <a:t>⏳ Upcoming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