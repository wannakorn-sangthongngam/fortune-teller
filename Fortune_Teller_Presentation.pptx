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463040"/>
            <a:ext cx="7616952" cy="3931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1463040"/>
            <a:ext cx="73152" cy="393192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18288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0C040"/>
                </a:solidFill>
              </a:rPr>
              <a:t>🔮 Fortune Teller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8346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CCCCFF"/>
                </a:solidFill>
              </a:rPr>
              <a:t>AI-Powered Tarot Card Recognition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11274552" cy="2743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374903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0C040"/>
                </a:solidFill>
              </a:rPr>
              <a:t>EfficientNet-B0  ·  PyTorch  ·  Transfer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CCFF"/>
                </a:solidFill>
              </a:rPr>
              <a:t>Wannakorn Sangthongngam  · 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1645920" cy="2926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F0C040"/>
                </a:solidFill>
              </a:rPr>
              <a:t>What is Fortune Teller?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212080" cy="25603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73152" cy="256032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0C040"/>
                </a:solidFill>
              </a:rPr>
              <a:t>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Take a photo of a tarot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AI identifies which card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Receive your fortune reading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089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78 unique tarot cards supported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394960" cy="25603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73152" cy="25603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</a:rPr>
              <a:t>Tech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011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Framework: PyTorch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77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Model: EfficientNet-B0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743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Training: Google Colab (T4 GPU)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1089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FF"/>
                </a:solidFill>
              </a:rPr>
              <a:t>  ▸  Data: Custom tarot card photos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663440"/>
            <a:ext cx="2011680" cy="6400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5488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📷 Photo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7548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663440"/>
            <a:ext cx="2011680" cy="6400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475488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🤖 AI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7548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663440"/>
            <a:ext cx="2011680" cy="6400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75488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🃏 Card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7548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4663440"/>
            <a:ext cx="2286000" cy="64008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47548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0D0D2B"/>
                </a:solidFill>
              </a:rPr>
              <a:t>🔮 Fortune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1645920" cy="2926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PROBLEM &amp;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F0C040"/>
                </a:solidFill>
              </a:rPr>
              <a:t>Challenge &amp;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212080" cy="34747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73152" cy="3474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</a:rPr>
              <a:t>❌ 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78 visually distinct tarot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Complex symbols, figures, colors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80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Small dataset (~30 photos/card)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Varied lighting &amp; angles in photos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Training from scratch = not enough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5394960" cy="34747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54480"/>
            <a:ext cx="73152" cy="3474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✅  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488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Transfer learning from ImageNet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5146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EfficientNet-B0 as feature extractor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880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Data augmentation (flip, rotate, jitter)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2-phase training (freeze → unfreeze)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FF"/>
                </a:solidFill>
              </a:rPr>
              <a:t>  ▸  Good accuracy with small dataset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solidFill>
                  <a:srgbClr val="F0C040"/>
                </a:solidFill>
              </a:rPr>
              <a:t>Key Insight: Borrow knowledge from 1.2M ImageNet images → apply to 78 tarot cards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1645920" cy="2926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F0C040"/>
                </a:solidFill>
              </a:rPr>
              <a:t>Model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1737360" cy="1463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Input
224×224×3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331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79" y="1828800"/>
            <a:ext cx="1737360" cy="1463040"/>
          </a:xfrm>
          <a:prstGeom prst="rect">
            <a:avLst/>
          </a:prstGeom>
          <a:solidFill>
            <a:srgbClr val="2C3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79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EfficientNet-B0
Backbone
(frozen Phase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331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828800"/>
            <a:ext cx="1737360" cy="1463040"/>
          </a:xfrm>
          <a:prstGeom prst="rect">
            <a:avLst/>
          </a:prstGeom>
          <a:solidFill>
            <a:srgbClr val="2C3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Global Avg
Pooling
1280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828800"/>
            <a:ext cx="1737360" cy="146304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Dropout
+Linear
→512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828800"/>
            <a:ext cx="1737360" cy="146304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ReLU
+Dropout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331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81359" y="1828800"/>
            <a:ext cx="1737360" cy="146304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59" y="1920240"/>
            <a:ext cx="1737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D0D2B"/>
                </a:solidFill>
              </a:rPr>
              <a:t>Linear
→78
(Softmax)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3200400" cy="34747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85615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749039"/>
            <a:ext cx="4572000" cy="34747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785615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096511"/>
            <a:ext cx="32004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133087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Parameters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4096511"/>
            <a:ext cx="45720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4133087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~5.3M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43983"/>
            <a:ext cx="3200400" cy="347472"/>
          </a:xfrm>
          <a:prstGeom prst="rect">
            <a:avLst/>
          </a:prstGeom>
          <a:solidFill>
            <a:srgbClr val="14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80559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Input Size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0" y="4443983"/>
            <a:ext cx="4572000" cy="347472"/>
          </a:xfrm>
          <a:prstGeom prst="rect">
            <a:avLst/>
          </a:prstGeom>
          <a:solidFill>
            <a:srgbClr val="14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480559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224 × 224 px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91456"/>
            <a:ext cx="32004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828032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Pretrained 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0" y="4791456"/>
            <a:ext cx="45720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4828032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ImageNet (1.2M images)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138927"/>
            <a:ext cx="3200400" cy="347472"/>
          </a:xfrm>
          <a:prstGeom prst="rect">
            <a:avLst/>
          </a:prstGeom>
          <a:solidFill>
            <a:srgbClr val="14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175503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Output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5138927"/>
            <a:ext cx="4572000" cy="347472"/>
          </a:xfrm>
          <a:prstGeom prst="rect">
            <a:avLst/>
          </a:prstGeom>
          <a:solidFill>
            <a:srgbClr val="14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175503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78 classes (tarot cards)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486400"/>
            <a:ext cx="32004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522976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Dropout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5486400"/>
            <a:ext cx="4572000" cy="347472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31920" y="5522976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0.3 (both layers)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3093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F0C040"/>
                </a:solidFill>
              </a:rPr>
              <a:t>Why EfficientNet-B0?  Scales depth + width + resolution together → best accuracy per parameter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1645920" cy="2926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TRAINING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F0C040"/>
                </a:solidFill>
              </a:rPr>
              <a:t>Training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383280" cy="4114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73152" cy="411480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0C040"/>
                </a:solidFill>
              </a:rPr>
              <a:t>Data Prep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78 card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~30 photos /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71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HEIC / JPG / 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832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Split 75/15/10%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554480"/>
            <a:ext cx="3474720" cy="4114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1554480"/>
            <a:ext cx="73152" cy="41148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164592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</a:rPr>
              <a:t>Phase 1  (10 epochs)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1488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Backbone frozen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5603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Train head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9718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LR = 1e-3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3832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CosineAnnealingLR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3794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Fast convergence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554480"/>
            <a:ext cx="3840480" cy="4114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63840" y="1554480"/>
            <a:ext cx="73152" cy="4114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1645920"/>
            <a:ext cx="3474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Phase 2  (20 epochs)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14884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Backbone unfrozen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25603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Fine-tune all layers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9718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LR = 1e-4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3832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Weight decay 1e-4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7947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FF"/>
                </a:solidFill>
              </a:rPr>
              <a:t>  ▸  Best model saved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F0C040"/>
                </a:solidFill>
              </a:rPr>
              <a:t>Augmentation: Resize → RandomCrop → Flip → Rotate ±15° → ColorJitter → Normalize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1645920" cy="2926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F0C040"/>
                </a:solidFill>
              </a:rPr>
              <a:t>Project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371600" cy="685800"/>
          </a:xfrm>
          <a:prstGeom prst="rect">
            <a:avLst/>
          </a:prstGeom>
          <a:solidFill>
            <a:srgbClr val="F0C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D0D2B"/>
                </a:solidFill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600200"/>
            <a:ext cx="969264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61848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0C040"/>
                </a:solidFill>
              </a:rPr>
              <a:t>Data Collection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94767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Photograph all 78 tarot cards
~30 photos per card, HEIC/JPG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7830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 i="0">
                <a:solidFill>
                  <a:srgbClr val="F0C040"/>
                </a:solidFill>
              </a:rPr>
              <a:t>🔄 In Progress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1371600" cy="6858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514600"/>
            <a:ext cx="969264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53288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</a:rPr>
              <a:t>Model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86207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Fine-tune EfficientNet-B0
Google Colab T4 GPU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974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 i="0">
                <a:solidFill>
                  <a:srgbClr val="CCCCFF"/>
                </a:solidFill>
              </a:rPr>
              <a:t>⏳ Upcoming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29000"/>
            <a:ext cx="1371600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3429000"/>
            <a:ext cx="969264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44728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Prediction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77647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Identify card from photo
Top-3 confidence scores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 i="0">
                <a:solidFill>
                  <a:srgbClr val="CCCCFF"/>
                </a:solidFill>
              </a:rPr>
              <a:t>⏳ Upcoming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371600" cy="685800"/>
          </a:xfrm>
          <a:prstGeom prst="rect">
            <a:avLst/>
          </a:prstGeom>
          <a:solidFill>
            <a:srgbClr val="3B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4805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343400"/>
            <a:ext cx="969264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36168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3B97D3"/>
                </a:solidFill>
              </a:rPr>
              <a:t>Fortune Telling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69087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Map card → meaning
Generate fortune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45262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 i="0">
                <a:solidFill>
                  <a:srgbClr val="CCCCFF"/>
                </a:solidFill>
              </a:rPr>
              <a:t>⏳ Upcoming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57800"/>
            <a:ext cx="1371600" cy="685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3949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5257800"/>
            <a:ext cx="969264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4560" y="5276088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</a:rPr>
              <a:t>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560527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Build full UI
Photo capture + fortune display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54406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 i="0">
                <a:solidFill>
                  <a:srgbClr val="CCCCFF"/>
                </a:solidFill>
              </a:rPr>
              <a:t>⏳ Upcoming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